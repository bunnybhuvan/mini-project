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8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6090" y="-1205781"/>
            <a:ext cx="5029200" cy="5029200"/>
          </a:xfrm>
          <a:prstGeom prst="ellipse">
            <a:avLst/>
          </a:prstGeom>
          <a:solidFill>
            <a:srgbClr val="7C5CFC">
              <a:alpha val="18000"/>
            </a:srgbClr>
          </a:solidFill>
          <a:ln w="12700">
            <a:solidFill>
              <a:srgbClr val="7C5CFC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1654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RESUMETRIX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3200400" cy="36576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5681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Screening and Application Tracking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" y="2578608"/>
            <a:ext cx="1665284" cy="265176"/>
          </a:xfrm>
          <a:prstGeom prst="roundRect">
            <a:avLst>
              <a:gd name="adj" fmla="val 15625"/>
            </a:avLst>
          </a:prstGeom>
          <a:solidFill>
            <a:srgbClr val="7C5CFC">
              <a:alpha val="22000"/>
            </a:srgbClr>
          </a:solidFill>
          <a:ln w="12700">
            <a:solidFill>
              <a:srgbClr val="7C5C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130" y="25630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React</a:t>
            </a:r>
            <a:endParaRPr lang="en-US" sz="1000" b="1" dirty="0"/>
          </a:p>
        </p:txBody>
      </p:sp>
      <p:sp>
        <p:nvSpPr>
          <p:cNvPr id="10" name="Shape 8"/>
          <p:cNvSpPr/>
          <p:nvPr/>
        </p:nvSpPr>
        <p:spPr>
          <a:xfrm>
            <a:off x="2093976" y="2592323"/>
            <a:ext cx="1773936" cy="272168"/>
          </a:xfrm>
          <a:prstGeom prst="roundRect">
            <a:avLst>
              <a:gd name="adj" fmla="val 15625"/>
            </a:avLst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0998" y="259232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 ·  Gemini AI</a:t>
            </a:r>
            <a:endParaRPr lang="en-US" sz="1000" b="1" dirty="0"/>
          </a:p>
        </p:txBody>
      </p:sp>
      <p:sp>
        <p:nvSpPr>
          <p:cNvPr id="12" name="Shape 10"/>
          <p:cNvSpPr/>
          <p:nvPr/>
        </p:nvSpPr>
        <p:spPr>
          <a:xfrm>
            <a:off x="3975219" y="2590799"/>
            <a:ext cx="1591863" cy="315185"/>
          </a:xfrm>
          <a:prstGeom prst="roundRect">
            <a:avLst>
              <a:gd name="adj" fmla="val 15625"/>
            </a:avLst>
          </a:prstGeom>
          <a:solidFill>
            <a:srgbClr val="FF6B8A">
              <a:alpha val="22000"/>
            </a:srgbClr>
          </a:solidFill>
          <a:ln w="12700">
            <a:solidFill>
              <a:srgbClr val="FF6B8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0847" y="2592322"/>
            <a:ext cx="2011680" cy="30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·  PostgreSQL</a:t>
            </a:r>
            <a:endParaRPr lang="en-US" sz="1000" b="1" dirty="0"/>
          </a:p>
        </p:txBody>
      </p:sp>
      <p:sp>
        <p:nvSpPr>
          <p:cNvPr id="14" name="Shape 12"/>
          <p:cNvSpPr/>
          <p:nvPr/>
        </p:nvSpPr>
        <p:spPr>
          <a:xfrm>
            <a:off x="457200" y="3581400"/>
            <a:ext cx="5029200" cy="0"/>
          </a:xfrm>
          <a:prstGeom prst="line">
            <a:avLst/>
          </a:prstGeom>
          <a:noFill/>
          <a:ln w="12700">
            <a:solidFill>
              <a:srgbClr val="2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709" y="36862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BHUVANESH JUJARE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709" y="391139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  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24AK5A0503 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1709" y="435912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5219" y="3064352"/>
            <a:ext cx="1591863" cy="282043"/>
          </a:xfrm>
          <a:prstGeom prst="roundRect">
            <a:avLst>
              <a:gd name="adj" fmla="val 10000"/>
            </a:avLst>
          </a:prstGeom>
          <a:solidFill>
            <a:srgbClr val="7C5CFC">
              <a:alpha val="16000"/>
            </a:srgbClr>
          </a:solidFill>
          <a:ln w="12700">
            <a:solidFill>
              <a:srgbClr val="7C5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30890" y="2831241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40965" y="3860887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0D4C8">
              <a:alpha val="16000"/>
            </a:srgbClr>
          </a:solidFill>
          <a:ln w="12700">
            <a:solidFill>
              <a:srgbClr val="00D4C8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40965" y="3819959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" y="3055207"/>
            <a:ext cx="1637852" cy="315990"/>
          </a:xfrm>
          <a:prstGeom prst="roundRect">
            <a:avLst>
              <a:gd name="adj" fmla="val 10000"/>
            </a:avLst>
          </a:prstGeom>
          <a:solidFill>
            <a:srgbClr val="FF6B8A">
              <a:alpha val="16000"/>
            </a:srgbClr>
          </a:solidFill>
          <a:ln w="12700">
            <a:solidFill>
              <a:srgbClr val="FF6B8A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4583" y="2865737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3064352"/>
            <a:ext cx="1764792" cy="290270"/>
          </a:xfrm>
          <a:prstGeom prst="roundRect">
            <a:avLst>
              <a:gd name="adj" fmla="val 10000"/>
            </a:avLst>
          </a:prstGeom>
          <a:solidFill>
            <a:srgbClr val="FFB347">
              <a:alpha val="16000"/>
            </a:srgbClr>
          </a:solidFill>
          <a:ln w="12700">
            <a:solidFill>
              <a:srgbClr val="FFB347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02406" y="2860845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Final Year Mini Project</a:t>
            </a:r>
            <a:endParaRPr 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CEA387-FF9A-8353-4316-E2BEBD4FE374}"/>
              </a:ext>
            </a:extLst>
          </p:cNvPr>
          <p:cNvSpPr txBox="1"/>
          <p:nvPr/>
        </p:nvSpPr>
        <p:spPr>
          <a:xfrm>
            <a:off x="403860" y="4130856"/>
            <a:ext cx="43135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Year 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– IV , Sec 1  </a:t>
            </a:r>
            <a:endParaRPr lang="en-US" sz="1300" b="1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C106FC-9EB6-1C28-D5E7-73F39C253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76" b="7538"/>
          <a:stretch>
            <a:fillRect/>
          </a:stretch>
        </p:blipFill>
        <p:spPr>
          <a:xfrm>
            <a:off x="6063419" y="1686793"/>
            <a:ext cx="2868387" cy="30796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6B8A">
              <a:alpha val="12000"/>
            </a:srgbClr>
          </a:solidFill>
          <a:ln w="12700">
            <a:solidFill>
              <a:srgbClr val="FF6B8A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qualified students</a:t>
            </a:r>
            <a:r>
              <a:rPr lang="en-US" sz="2500" dirty="0"/>
              <a:t> </a:t>
            </a: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fail to get interviews?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2971800" cy="605028"/>
          </a:xfrm>
          <a:prstGeom prst="roundRect">
            <a:avLst>
              <a:gd name="adj" fmla="val 5000"/>
            </a:avLst>
          </a:prstGeom>
          <a:solidFill>
            <a:srgbClr val="1A1E36"/>
          </a:solidFill>
          <a:ln w="12700">
            <a:solidFill>
              <a:srgbClr val="FF6B8A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883664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FF6B8A">
              <a:alpha val="30000"/>
            </a:srgbClr>
          </a:solidFill>
          <a:ln w="12700">
            <a:solidFill>
              <a:srgbClr val="FF6B8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836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84708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Rejection Without Feedback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249424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8348" y="2414016"/>
            <a:ext cx="2321052" cy="605028"/>
          </a:xfrm>
          <a:prstGeom prst="roundRect">
            <a:avLst>
              <a:gd name="adj" fmla="val 5000"/>
            </a:avLst>
          </a:prstGeom>
          <a:solidFill>
            <a:srgbClr val="1A1E36"/>
          </a:solidFill>
          <a:ln w="12700">
            <a:solidFill>
              <a:srgbClr val="7C5CFC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571750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7C5CFC">
              <a:alpha val="30000"/>
            </a:srgbClr>
          </a:solidFill>
          <a:ln w="12700">
            <a:solidFill>
              <a:srgbClr val="7C5CF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57175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253288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Skill Gaps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249424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" y="3154680"/>
            <a:ext cx="2976372" cy="605028"/>
          </a:xfrm>
          <a:prstGeom prst="roundRect">
            <a:avLst>
              <a:gd name="adj" fmla="val 5000"/>
            </a:avLst>
          </a:prstGeom>
          <a:solidFill>
            <a:srgbClr val="1A1E36"/>
          </a:solidFill>
          <a:ln w="12700">
            <a:solidFill>
              <a:srgbClr val="00D4C8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3346704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00D4C8">
              <a:alpha val="30000"/>
            </a:srgbClr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3467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" y="3279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Interview Prep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" y="3877056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877056"/>
            <a:ext cx="2442972" cy="605028"/>
          </a:xfrm>
          <a:prstGeom prst="roundRect">
            <a:avLst>
              <a:gd name="adj" fmla="val 5000"/>
            </a:avLst>
          </a:prstGeom>
          <a:solidFill>
            <a:srgbClr val="1A1E36"/>
          </a:solidFill>
          <a:ln w="12700">
            <a:solidFill>
              <a:srgbClr val="FFB347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" y="4043934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FFB347">
              <a:alpha val="30000"/>
            </a:srgbClr>
          </a:solidFill>
          <a:ln w="12700">
            <a:solidFill>
              <a:srgbClr val="FFB34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04393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399821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Job Tracking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877056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1208" y="1242060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1E204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2192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resumes never reach a human reviewer  ·  Most candidates prepare without referencing the actual JD  ·  Only 2% of applications result in an interview call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AACC37A-A953-7C09-3EA2-391A907D0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2" r="15319" b="7419"/>
          <a:stretch>
            <a:fillRect/>
          </a:stretch>
        </p:blipFill>
        <p:spPr>
          <a:xfrm>
            <a:off x="6327648" y="1719072"/>
            <a:ext cx="2581132" cy="30049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EFDA52-1C06-26DA-9DB0-A97B48C7F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208" y="1748028"/>
            <a:ext cx="2843647" cy="282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46988" y="2324100"/>
            <a:ext cx="3200400" cy="3200400"/>
          </a:xfrm>
          <a:prstGeom prst="ellipse">
            <a:avLst/>
          </a:prstGeom>
          <a:solidFill>
            <a:srgbClr val="7C5CFC">
              <a:alpha val="12000"/>
            </a:srgbClr>
          </a:solidFill>
          <a:ln w="12700">
            <a:solidFill>
              <a:srgbClr val="7C5CFC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METHODOLOGY &amp;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Resumetrix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7C5CFC">
              <a:alpha val="25000"/>
            </a:srgbClr>
          </a:solidFill>
          <a:ln w="12700">
            <a:solidFill>
              <a:srgbClr val="7C5CFC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93292" y="1641348"/>
            <a:ext cx="182880" cy="0"/>
          </a:xfrm>
          <a:prstGeom prst="line">
            <a:avLst/>
          </a:prstGeom>
          <a:noFill/>
          <a:ln w="19050">
            <a:solidFill>
              <a:srgbClr val="3A3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5588" y="1549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12748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6B7FFC">
              <a:alpha val="25000"/>
            </a:srgbClr>
          </a:solidFill>
          <a:ln w="12700">
            <a:solidFill>
              <a:srgbClr val="6B7FFC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12748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0884" y="1641348"/>
            <a:ext cx="182880" cy="0"/>
          </a:xfrm>
          <a:prstGeom prst="line">
            <a:avLst/>
          </a:prstGeom>
          <a:noFill/>
          <a:ln w="19050">
            <a:solidFill>
              <a:srgbClr val="3A3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3180" y="1549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20340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0D4C8">
              <a:alpha val="25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20340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8476" y="1641348"/>
            <a:ext cx="182880" cy="0"/>
          </a:xfrm>
          <a:prstGeom prst="line">
            <a:avLst/>
          </a:prstGeom>
          <a:noFill/>
          <a:ln w="19050">
            <a:solidFill>
              <a:srgbClr val="3A3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0772" y="1549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27932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0B8B0">
              <a:alpha val="25000"/>
            </a:srgbClr>
          </a:solidFill>
          <a:ln w="12700">
            <a:solidFill>
              <a:srgbClr val="00B8B0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7932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16068" y="1641348"/>
            <a:ext cx="182880" cy="0"/>
          </a:xfrm>
          <a:prstGeom prst="line">
            <a:avLst/>
          </a:prstGeom>
          <a:noFill/>
          <a:ln w="19050">
            <a:solidFill>
              <a:srgbClr val="3A3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8364" y="1549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35524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A8FF3E">
              <a:alpha val="25000"/>
            </a:srgbClr>
          </a:solidFill>
          <a:ln w="12700">
            <a:solidFill>
              <a:srgbClr val="A8FF3E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35524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23660" y="1641348"/>
            <a:ext cx="182880" cy="0"/>
          </a:xfrm>
          <a:prstGeom prst="line">
            <a:avLst/>
          </a:prstGeom>
          <a:noFill/>
          <a:ln w="19050">
            <a:solidFill>
              <a:srgbClr val="3A3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1549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43116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6B8A">
              <a:alpha val="25000"/>
            </a:srgbClr>
          </a:solidFill>
          <a:ln w="12700">
            <a:solidFill>
              <a:srgbClr val="FF6B8A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43116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31252" y="1641348"/>
            <a:ext cx="182880" cy="0"/>
          </a:xfrm>
          <a:prstGeom prst="line">
            <a:avLst/>
          </a:prstGeom>
          <a:noFill/>
          <a:ln w="19050">
            <a:solidFill>
              <a:srgbClr val="3A3F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3548" y="1549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0708" y="1298448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B347">
              <a:alpha val="25000"/>
            </a:srgbClr>
          </a:solidFill>
          <a:ln w="12700">
            <a:solidFill>
              <a:srgbClr val="FFB347">
                <a:alpha val="6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50708" y="1298448"/>
            <a:ext cx="1051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27632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35224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42816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50408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0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165592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2316" y="24551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2316" y="2784348"/>
            <a:ext cx="2770632" cy="658368"/>
          </a:xfrm>
          <a:prstGeom prst="roundRect">
            <a:avLst>
              <a:gd name="adj" fmla="val 8333"/>
            </a:avLst>
          </a:prstGeom>
          <a:solidFill>
            <a:srgbClr val="1A1E36"/>
          </a:solidFill>
          <a:ln w="12700">
            <a:solidFill>
              <a:srgbClr val="00D4C8">
                <a:alpha val="4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0332" y="287578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70332" y="30403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0332" y="32415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 · shadcn/ui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195828" y="2784348"/>
            <a:ext cx="2770632" cy="658368"/>
          </a:xfrm>
          <a:prstGeom prst="roundRect">
            <a:avLst>
              <a:gd name="adj" fmla="val 8333"/>
            </a:avLst>
          </a:prstGeom>
          <a:solidFill>
            <a:srgbClr val="1A1E36"/>
          </a:solidFill>
          <a:ln w="12700">
            <a:solidFill>
              <a:srgbClr val="7C5CFC">
                <a:alpha val="4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23844" y="287578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23844" y="30403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323844" y="32415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python-docx · spaCy NLP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49340" y="2784348"/>
            <a:ext cx="2770632" cy="658368"/>
          </a:xfrm>
          <a:prstGeom prst="roundRect">
            <a:avLst>
              <a:gd name="adj" fmla="val 8333"/>
            </a:avLst>
          </a:prstGeom>
          <a:solidFill>
            <a:srgbClr val="1A1E36"/>
          </a:solidFill>
          <a:ln w="12700">
            <a:solidFill>
              <a:srgbClr val="FF6B8A">
                <a:alpha val="4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77356" y="287578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77356" y="30403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PostgreSQL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77356" y="32415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Storage · REST APIs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2316" y="3579876"/>
            <a:ext cx="2770632" cy="658368"/>
          </a:xfrm>
          <a:prstGeom prst="roundRect">
            <a:avLst>
              <a:gd name="adj" fmla="val 8333"/>
            </a:avLst>
          </a:prstGeom>
          <a:solidFill>
            <a:srgbClr val="1A1E36"/>
          </a:solidFill>
          <a:ln w="12700">
            <a:solidFill>
              <a:srgbClr val="FFB347">
                <a:alpha val="4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70332" y="367131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70332" y="38359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API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0332" y="40370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free req/day · Prompt engineering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195828" y="3579876"/>
            <a:ext cx="2770632" cy="658368"/>
          </a:xfrm>
          <a:prstGeom prst="roundRect">
            <a:avLst>
              <a:gd name="adj" fmla="val 8333"/>
            </a:avLst>
          </a:prstGeom>
          <a:solidFill>
            <a:srgbClr val="1A1E36"/>
          </a:solidFill>
          <a:ln w="12700">
            <a:solidFill>
              <a:srgbClr val="A8FF3E">
                <a:alpha val="4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323844" y="367131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A8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23844" y="38359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Render.com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323844" y="40370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CDN + Backend Python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49340" y="3579876"/>
            <a:ext cx="2770632" cy="658368"/>
          </a:xfrm>
          <a:prstGeom prst="roundRect">
            <a:avLst>
              <a:gd name="adj" fmla="val 8333"/>
            </a:avLst>
          </a:prstGeom>
          <a:solidFill>
            <a:srgbClr val="1A1E36"/>
          </a:solidFill>
          <a:ln w="12700">
            <a:solidFill>
              <a:srgbClr val="00B8B0">
                <a:alpha val="4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277356" y="367131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77356" y="38359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277356" y="40370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· Line · Bar charts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828800"/>
            <a:ext cx="3200400" cy="3200400"/>
          </a:xfrm>
          <a:prstGeom prst="ellipse">
            <a:avLst/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RESULTS &amp; IMPLEMENTED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Resumetrix Delivers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97764" y="1207008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1A1E36"/>
          </a:solidFill>
          <a:ln w="12700">
            <a:solidFill>
              <a:srgbClr val="7C5CFC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33502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7C5CFC">
              <a:alpha val="28000"/>
            </a:srgbClr>
          </a:solidFill>
          <a:ln w="12700">
            <a:solidFill>
              <a:srgbClr val="7C5C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" y="13350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43684" y="1335024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7C5CFC">
              <a:alpha val="18000"/>
            </a:srgbClr>
          </a:solidFill>
          <a:ln w="12700">
            <a:solidFill>
              <a:srgbClr val="7C5C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3684" y="13350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5780" y="1627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Compatibility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" y="193852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formatting rules checked: file type, tables, headers, date format, contact info, word count.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8980" y="1207008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1A1E36"/>
          </a:solidFill>
          <a:ln w="12700">
            <a:solidFill>
              <a:srgbClr val="00D4C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96996" y="133502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0D4C8">
              <a:alpha val="28000"/>
            </a:srgbClr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6996" y="13350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4900" y="1335024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4900" y="13350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NLP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96996" y="1627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Match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96996" y="193852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 (50%) · Tools (25%) · Soft skills (15%) · Certifications (10%) — weighted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0196" y="1207008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1A1E36"/>
          </a:solidFill>
          <a:ln w="12700">
            <a:solidFill>
              <a:srgbClr val="A8FF3E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8212" y="133502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A8FF3E">
              <a:alpha val="28000"/>
            </a:srgbClr>
          </a:solidFill>
          <a:ln w="12700">
            <a:solidFill>
              <a:srgbClr val="A8FF3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8212" y="13350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86116" y="1335024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A8FF3E">
              <a:alpha val="18000"/>
            </a:srgbClr>
          </a:solidFill>
          <a:ln w="12700">
            <a:solidFill>
              <a:srgbClr val="A8FF3E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86116" y="13350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JSON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68212" y="1627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8212" y="193852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skills vs Missing skills. Color-coded output. Recommendations for each missing skill.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7764" y="2761488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1A1E36"/>
          </a:solidFill>
          <a:ln w="12700">
            <a:solidFill>
              <a:srgbClr val="FF6B8A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5780" y="28895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F6B8A">
              <a:alpha val="28000"/>
            </a:srgbClr>
          </a:solidFill>
          <a:ln w="12700">
            <a:solidFill>
              <a:srgbClr val="FF6B8A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" y="28895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43684" y="2889504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FF6B8A">
              <a:alpha val="18000"/>
            </a:srgbClr>
          </a:solidFill>
          <a:ln w="12700">
            <a:solidFill>
              <a:srgbClr val="FF6B8A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3684" y="28895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5780" y="318211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" y="34930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technical + 3 behavioral questions generated from the JD. AI scores each answer on 4 dimensions.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8980" y="2761488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1A1E36"/>
          </a:solidFill>
          <a:ln w="12700">
            <a:solidFill>
              <a:srgbClr val="FFB347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96996" y="28895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FB347">
              <a:alpha val="28000"/>
            </a:srgbClr>
          </a:solidFill>
          <a:ln w="12700">
            <a:solidFill>
              <a:srgbClr val="FFB347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6996" y="28895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14900" y="2889504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FFB347">
              <a:alpha val="18000"/>
            </a:srgbClr>
          </a:solidFill>
          <a:ln w="1270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4900" y="28895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Regex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96996" y="318211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Scorer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96996" y="34930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resume bullet rated on action verbs, metrics, passive voice, length. Score 0–10 per line.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40196" y="2761488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1A1E36"/>
          </a:solidFill>
          <a:ln w="12700">
            <a:solidFill>
              <a:srgbClr val="00B8B0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8212" y="28895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0B8B0">
              <a:alpha val="28000"/>
            </a:srgbClr>
          </a:solidFill>
          <a:ln w="12700">
            <a:solidFill>
              <a:srgbClr val="00B8B0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8212" y="28895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86116" y="2889504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00B8B0">
              <a:alpha val="18000"/>
            </a:srgbClr>
          </a:solidFill>
          <a:ln w="12700">
            <a:solidFill>
              <a:srgbClr val="00B8B0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86116" y="28895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UI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68212" y="318211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68212" y="349300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5-column Kanban board: Saved → Applied → OA → Interview → Outcome. Analytics per stage.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2628" y="4462272"/>
            <a:ext cx="8229600" cy="292608"/>
          </a:xfrm>
          <a:prstGeom prst="roundRect">
            <a:avLst>
              <a:gd name="adj" fmla="val 15625"/>
            </a:avLst>
          </a:prstGeom>
          <a:solidFill>
            <a:srgbClr val="151828"/>
          </a:solidFill>
          <a:ln w="12700">
            <a:solidFill>
              <a:srgbClr val="282C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" y="446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Modules Implemented  ·  spaCy NLP + Gemini AI  ·  Free-Tier Stack  ·  500+ Skills Taxonomy  ·  Deployed on Vercel + Render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4114800" cy="4114800"/>
          </a:xfrm>
          <a:prstGeom prst="ellipse">
            <a:avLst/>
          </a:prstGeom>
          <a:solidFill>
            <a:srgbClr val="7C5CFC">
              <a:alpha val="10000"/>
            </a:srgbClr>
          </a:solidFill>
          <a:ln w="12700">
            <a:solidFill>
              <a:srgbClr val="7C5CFC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00D4C8">
              <a:alpha val="10000"/>
            </a:srgbClr>
          </a:solidFill>
          <a:ln w="12700">
            <a:solidFill>
              <a:srgbClr val="00D4C8">
                <a:alpha val="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8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01168" cy="201168"/>
          </a:xfrm>
          <a:prstGeom prst="ellipse">
            <a:avLst/>
          </a:prstGeom>
          <a:solidFill>
            <a:srgbClr val="A8FF3E">
              <a:alpha val="40000"/>
            </a:srgbClr>
          </a:solidFill>
          <a:ln w="12700">
            <a:solidFill>
              <a:srgbClr val="A8FF3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17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4672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resume quality through ATS-aware feedback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201168" cy="201168"/>
          </a:xfrm>
          <a:prstGeom prst="ellipse">
            <a:avLst/>
          </a:prstGeom>
          <a:solidFill>
            <a:srgbClr val="A8FF3E">
              <a:alpha val="40000"/>
            </a:srgbClr>
          </a:solidFill>
          <a:ln w="12700">
            <a:solidFill>
              <a:srgbClr val="A8FF3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" y="2002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identifies missing skills for specific roles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201168" cy="201168"/>
          </a:xfrm>
          <a:prstGeom prst="ellipse">
            <a:avLst/>
          </a:prstGeom>
          <a:solidFill>
            <a:srgbClr val="A8FF3E">
              <a:alpha val="40000"/>
            </a:srgbClr>
          </a:solidFill>
          <a:ln w="12700">
            <a:solidFill>
              <a:srgbClr val="A8FF3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interview preparation using the actual JD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026664"/>
            <a:ext cx="201168" cy="201168"/>
          </a:xfrm>
          <a:prstGeom prst="ellipse">
            <a:avLst/>
          </a:prstGeom>
          <a:solidFill>
            <a:srgbClr val="A8FF3E">
              <a:alpha val="40000"/>
            </a:srgbClr>
          </a:solidFill>
          <a:ln w="12700">
            <a:solidFill>
              <a:srgbClr val="A8FF3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26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job application management with Kanban tracking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529584"/>
            <a:ext cx="201168" cy="201168"/>
          </a:xfrm>
          <a:prstGeom prst="ellipse">
            <a:avLst/>
          </a:prstGeom>
          <a:solidFill>
            <a:srgbClr val="A8FF3E">
              <a:alpha val="40000"/>
            </a:srgbClr>
          </a:solidFill>
          <a:ln w="12700">
            <a:solidFill>
              <a:srgbClr val="A8FF3E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platform accessible to all students and job seekers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1207008"/>
            <a:ext cx="0" cy="2926080"/>
          </a:xfrm>
          <a:prstGeom prst="line">
            <a:avLst/>
          </a:prstGeom>
          <a:noFill/>
          <a:ln w="12700">
            <a:solidFill>
              <a:srgbClr val="2A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207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517904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7C5CFC">
              <a:alpha val="14000"/>
            </a:srgbClr>
          </a:solidFill>
          <a:ln w="12700">
            <a:solidFill>
              <a:srgbClr val="7C5CFC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517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LinkedIn Profile Optimization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1993392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00D4C8">
              <a:alpha val="14000"/>
            </a:srgbClr>
          </a:solidFill>
          <a:ln w="1270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Portfolio Analyzer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37760" y="2468880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FF6B8A">
              <a:alpha val="14000"/>
            </a:srgbClr>
          </a:solidFill>
          <a:ln w="12700">
            <a:solidFill>
              <a:srgbClr val="FF6B8A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Semantic Matching with Sentence Transformers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37760" y="2944368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FFB347">
              <a:alpha val="14000"/>
            </a:srgbClr>
          </a:solidFill>
          <a:ln w="12700">
            <a:solidFill>
              <a:srgbClr val="FFB347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Resume Rewriter (Gemini-powered)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937760" y="3419856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A8FF3E">
              <a:alpha val="14000"/>
            </a:srgbClr>
          </a:solidFill>
          <a:ln w="12700">
            <a:solidFill>
              <a:srgbClr val="A8FF3E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419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Multi-language Support (Hindi, Telugu)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25196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7C5CFC">
              <a:alpha val="18000"/>
            </a:srgbClr>
          </a:solidFill>
          <a:ln w="12700">
            <a:solidFill>
              <a:srgbClr val="7C5CFC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2519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r>
              <a:rPr lang="en-US" sz="1400" dirty="0">
                <a:solidFill>
                  <a:srgbClr val="889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Questions Welcome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502</Words>
  <Application>Microsoft Office PowerPoint</Application>
  <PresentationFormat>On-screen Show (16:9)</PresentationFormat>
  <Paragraphs>126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Resumetrix — Academic Presentation</dc:title>
  <dc:subject>PptxGenJS Presentation</dc:subject>
  <dc:creator>Resumetrix Team</dc:creator>
  <cp:lastModifiedBy>BHUVANESH JUJARE</cp:lastModifiedBy>
  <cp:revision>4</cp:revision>
  <dcterms:created xsi:type="dcterms:W3CDTF">2026-06-17T10:52:03Z</dcterms:created>
  <dcterms:modified xsi:type="dcterms:W3CDTF">2026-06-18T04:57:59Z</dcterms:modified>
</cp:coreProperties>
</file>